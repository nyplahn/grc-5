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A3D9"/>
                </a:solidFill>
                <a:latin typeface="Calibri"/>
              </a:rPr>
              <a:t>NYPL INFORMATION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7863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One Platform for Governance,</a:t>
            </a:r>
          </a:p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Risk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ADCFC"/>
                </a:solidFill>
                <a:latin typeface="Cambria"/>
              </a:rPr>
              <a:t>Where we started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209544"/>
            <a:ext cx="91440" cy="914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127248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Assessment results, risks, and remediation plans scattered across disconnected spreadsheets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142231"/>
            <a:ext cx="91440" cy="914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059935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Evidence buried in shared drives — found by memory, not by system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5074919"/>
            <a:ext cx="91440" cy="914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992623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“Where are we on security?” took weeks to answer, and the answer aged instantly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FA3D9"/>
                </a:solidFill>
                <a:latin typeface="Calibri"/>
              </a:rPr>
              <a:t>Built in-house. Matched to how we actually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8" y="2331720"/>
            <a:ext cx="3310128" cy="1847088"/>
          </a:xfrm>
          <a:prstGeom prst="roundRect">
            <a:avLst>
              <a:gd name="adj" fmla="val 7000"/>
            </a:avLst>
          </a:prstGeom>
          <a:solidFill>
            <a:srgbClr val="2934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67528" y="2551176"/>
            <a:ext cx="457200" cy="457200"/>
          </a:xfrm>
          <a:prstGeom prst="ellipse">
            <a:avLst/>
          </a:prstGeom>
          <a:solidFill>
            <a:srgbClr val="32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CADCFC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3136391"/>
            <a:ext cx="28529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One source of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3465576"/>
            <a:ext cx="285292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Controls, risks, evidence, policies, and remediation in a single connected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2331720"/>
            <a:ext cx="3310128" cy="1847088"/>
          </a:xfrm>
          <a:prstGeom prst="roundRect">
            <a:avLst>
              <a:gd name="adj" fmla="val 7000"/>
            </a:avLst>
          </a:prstGeom>
          <a:solidFill>
            <a:srgbClr val="2934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51976" y="2551176"/>
            <a:ext cx="457200" cy="457200"/>
          </a:xfrm>
          <a:prstGeom prst="ellipse">
            <a:avLst/>
          </a:prstGeom>
          <a:solidFill>
            <a:srgbClr val="32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CADCFC"/>
                </a:solidFill>
                <a:latin typeface="Calibri"/>
              </a:rPr>
              <a:t>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1976" y="3136391"/>
            <a:ext cx="28529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Live risk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3465576"/>
            <a:ext cx="285292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Every risk scored, every control rated for criticality and maturity — always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8928" y="4453127"/>
            <a:ext cx="3310128" cy="1847088"/>
          </a:xfrm>
          <a:prstGeom prst="roundRect">
            <a:avLst>
              <a:gd name="adj" fmla="val 7000"/>
            </a:avLst>
          </a:prstGeom>
          <a:solidFill>
            <a:srgbClr val="2934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67528" y="4672583"/>
            <a:ext cx="457200" cy="457200"/>
          </a:xfrm>
          <a:prstGeom prst="ellipse">
            <a:avLst/>
          </a:prstGeom>
          <a:solidFill>
            <a:srgbClr val="32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CADCFC"/>
                </a:solidFill>
                <a:latin typeface="Calibri"/>
              </a:rPr>
              <a:t>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5257799"/>
            <a:ext cx="28529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Audit-ready, always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5586983"/>
            <a:ext cx="285292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Evidence mapped to every control; executive and technical reports in one click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23376" y="4453127"/>
            <a:ext cx="3310128" cy="1847088"/>
          </a:xfrm>
          <a:prstGeom prst="roundRect">
            <a:avLst>
              <a:gd name="adj" fmla="val 7000"/>
            </a:avLst>
          </a:prstGeom>
          <a:solidFill>
            <a:srgbClr val="2934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51976" y="4672583"/>
            <a:ext cx="457200" cy="457200"/>
          </a:xfrm>
          <a:prstGeom prst="ellipse">
            <a:avLst/>
          </a:prstGeom>
          <a:solidFill>
            <a:srgbClr val="32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CADCFC"/>
                </a:solidFill>
                <a:latin typeface="Calibri"/>
              </a:rPr>
              <a:t>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1976" y="5257799"/>
            <a:ext cx="28529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Map once, comply many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1976" y="5586983"/>
            <a:ext cx="285292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Built on NIST CSF 2.0 — the same controls satisfy CIS and future 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The Platform in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7818120" cy="4398264"/>
          </a:xfrm>
          <a:prstGeom prst="roundRect">
            <a:avLst>
              <a:gd name="adj" fmla="val 3500"/>
            </a:avLst>
          </a:prstGeom>
          <a:solidFill>
            <a:srgbClr val="F1F5FD"/>
          </a:solidFill>
          <a:ln w="15875">
            <a:solidFill>
              <a:srgbClr val="1E276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46220" y="2930652"/>
            <a:ext cx="1005840" cy="10058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9372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mbria"/>
              </a:rPr>
              <a:t>Demo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5132"/>
            <a:ext cx="7818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4A5568"/>
                </a:solidFill>
                <a:latin typeface="Calibri"/>
              </a:rPr>
              <a:t>Insert screen recording here — narrated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53328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Full walkthrough: Dashboard → Controls → Risks → Remediation → Evidence →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4173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What to watch for</a:t>
            </a:r>
          </a:p>
        </p:txBody>
      </p:sp>
      <p:sp>
        <p:nvSpPr>
          <p:cNvPr id="9" name="Oval 8"/>
          <p:cNvSpPr/>
          <p:nvPr/>
        </p:nvSpPr>
        <p:spPr>
          <a:xfrm>
            <a:off x="8823960" y="201168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993392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Risk posture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313432"/>
            <a:ext cx="2697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Calibri"/>
              </a:rPr>
              <a:t>The dashboard scores our whole control environment live</a:t>
            </a:r>
          </a:p>
        </p:txBody>
      </p:sp>
      <p:sp>
        <p:nvSpPr>
          <p:cNvPr id="12" name="Oval 11"/>
          <p:cNvSpPr/>
          <p:nvPr/>
        </p:nvSpPr>
        <p:spPr>
          <a:xfrm>
            <a:off x="8823960" y="309067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3072384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Map once, comply many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392424"/>
            <a:ext cx="2697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Calibri"/>
              </a:rPr>
              <a:t>One control satisfies NIST CSF and CIS requirements together</a:t>
            </a:r>
          </a:p>
        </p:txBody>
      </p:sp>
      <p:sp>
        <p:nvSpPr>
          <p:cNvPr id="15" name="Oval 14"/>
          <p:cNvSpPr/>
          <p:nvPr/>
        </p:nvSpPr>
        <p:spPr>
          <a:xfrm>
            <a:off x="8823960" y="4169663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4151376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Finding → risk →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4471416"/>
            <a:ext cx="2697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Calibri"/>
              </a:rPr>
              <a:t>An assessment gap becomes a tracked, assigned remediation in one step</a:t>
            </a:r>
          </a:p>
        </p:txBody>
      </p:sp>
      <p:sp>
        <p:nvSpPr>
          <p:cNvPr id="18" name="Oval 17"/>
          <p:cNvSpPr/>
          <p:nvPr/>
        </p:nvSpPr>
        <p:spPr>
          <a:xfrm>
            <a:off x="8823960" y="5248655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5230368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Reports in one click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5550407"/>
            <a:ext cx="2697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Calibri"/>
              </a:rPr>
              <a:t>Board-ready and audit-ready output, generated from live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The Value, in Plain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520440" cy="1874519"/>
          </a:xfrm>
          <a:prstGeom prst="roundRect">
            <a:avLst>
              <a:gd name="adj" fmla="val 7000"/>
            </a:avLst>
          </a:prstGeom>
          <a:solidFill>
            <a:srgbClr val="2934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28216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$30–100K+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96312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Annual licensing avoided vs. commercial GRC platforms (Archer, ServiceNow, Vanta)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17320"/>
            <a:ext cx="3520440" cy="1874519"/>
          </a:xfrm>
          <a:prstGeom prst="roundRect">
            <a:avLst>
              <a:gd name="adj" fmla="val 7000"/>
            </a:avLst>
          </a:prstGeom>
          <a:solidFill>
            <a:srgbClr val="2934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0016" y="1728216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5+ →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0016" y="2496312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Spreadsheets and trackers consolidated into one connected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1311" y="1417320"/>
            <a:ext cx="3520440" cy="1874519"/>
          </a:xfrm>
          <a:prstGeom prst="roundRect">
            <a:avLst>
              <a:gd name="adj" fmla="val 7000"/>
            </a:avLst>
          </a:prstGeom>
          <a:solidFill>
            <a:srgbClr val="2934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728216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Weeks →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496312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Audit prep and board reporting, generated from live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ADCFC"/>
                </a:solidFill>
                <a:latin typeface="Cambria"/>
              </a:rPr>
              <a:t>What’s next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24528"/>
            <a:ext cx="475488" cy="475488"/>
          </a:xfrm>
          <a:prstGeom prst="ellipse">
            <a:avLst/>
          </a:prstGeom>
          <a:solidFill>
            <a:srgbClr val="32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CADCFC"/>
                </a:solidFill>
                <a:latin typeface="Calibri"/>
              </a:rPr>
              <a:t>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mbria"/>
              </a:rPr>
              <a:t>Continuous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75504"/>
            <a:ext cx="267004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Verify controls automatically via Okta, device management &amp; cloud APIs</a:t>
            </a:r>
          </a:p>
        </p:txBody>
      </p:sp>
      <p:sp>
        <p:nvSpPr>
          <p:cNvPr id="16" name="Oval 15"/>
          <p:cNvSpPr/>
          <p:nvPr/>
        </p:nvSpPr>
        <p:spPr>
          <a:xfrm>
            <a:off x="3511296" y="4224528"/>
            <a:ext cx="475488" cy="475488"/>
          </a:xfrm>
          <a:prstGeom prst="ellipse">
            <a:avLst/>
          </a:prstGeom>
          <a:solidFill>
            <a:srgbClr val="32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CADCFC"/>
                </a:solidFill>
                <a:latin typeface="Calibri"/>
              </a:rPr>
              <a:t>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4846320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mbria"/>
              </a:rPr>
              <a:t>Policy lifecycle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5175504"/>
            <a:ext cx="267004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Staff acknowledgment tracking on the new Policy Register</a:t>
            </a:r>
          </a:p>
        </p:txBody>
      </p:sp>
      <p:sp>
        <p:nvSpPr>
          <p:cNvPr id="19" name="Oval 18"/>
          <p:cNvSpPr/>
          <p:nvPr/>
        </p:nvSpPr>
        <p:spPr>
          <a:xfrm>
            <a:off x="6382512" y="4224528"/>
            <a:ext cx="475488" cy="475488"/>
          </a:xfrm>
          <a:prstGeom prst="ellipse">
            <a:avLst/>
          </a:prstGeom>
          <a:solidFill>
            <a:srgbClr val="32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CADCFC"/>
                </a:solidFill>
                <a:latin typeface="Calibri"/>
              </a:rPr>
              <a:t>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846320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mbria"/>
              </a:rPr>
              <a:t>Vendor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5175504"/>
            <a:ext cx="267004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Third-party assessments, SOC 2 tracking, renewal alerts</a:t>
            </a:r>
          </a:p>
        </p:txBody>
      </p:sp>
      <p:sp>
        <p:nvSpPr>
          <p:cNvPr id="22" name="Oval 21"/>
          <p:cNvSpPr/>
          <p:nvPr/>
        </p:nvSpPr>
        <p:spPr>
          <a:xfrm>
            <a:off x="9253728" y="4224528"/>
            <a:ext cx="475488" cy="475488"/>
          </a:xfrm>
          <a:prstGeom prst="ellipse">
            <a:avLst/>
          </a:prstGeom>
          <a:solidFill>
            <a:srgbClr val="32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CADCFC"/>
                </a:solidFill>
                <a:latin typeface="Calibri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846320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mbria"/>
              </a:rPr>
              <a:t>AI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5175504"/>
            <a:ext cx="267004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Ask questions of the program in plain English — already built, pending key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8FA3D9"/>
                </a:solidFill>
                <a:latin typeface="Calibri"/>
              </a:rPr>
              <a:t>Built in-house on standard technology — no vendor lock-in, ours to extend.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